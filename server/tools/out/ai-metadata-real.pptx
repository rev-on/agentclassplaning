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202"/>
    <p:sldId id="258" r:id="rId203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2" Type="http://schemas.openxmlformats.org/officeDocument/2006/relationships/slide" Target="slides/slide2.xml"/><Relationship Id="rId203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Ba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6FB2"/>
          </a:solidFill>
        </p:spPr>
        <p:txBody>
          <a:bodyPr anchor="ctr" rtlCol="0">
            <a:spAutoFit/>
          </a:bodyPr>
          <a:lstStyle/>
          <a:p>
            <a:r>
              <a:rPr lang="zh-CN" altLang="en-US" sz="4400" b="1" dirty="0">
                <a:solidFill>
                  <a:srgbClr val="FFFFFF"/>
                </a:solidFill>
                <a:latin typeface="+mn-lt"/>
                <a:ea typeface="+mn-ea"/>
              </a:rPr>
              <a:t>七年级生物《细胞的结构》课件</a:t>
            </a:r>
          </a:p>
        </p:txBody>
      </p:sp>
      <p:sp>
        <p:nvSpPr>
          <p:cNvPr id="4" name="Sub"/>
          <p:cNvSpPr txBox="1"/>
          <p:nvPr/>
        </p:nvSpPr>
        <p:spPr>
          <a:xfrm>
            <a:off x="457200" y="5500000"/>
            <a:ext cx="11277600" cy="800000"/>
          </a:xfrm>
        </p:spPr>
        <p:txBody>
          <a:bodyPr anchor="ctr" rtlCol="0">
            <a:spAutoFit/>
          </a:bodyPr>
          <a:lstStyle/>
          <a:p>
            <a:r>
              <a:rPr lang="zh-CN" altLang="en-US" sz="1800" b="0" dirty="0">
                <a:solidFill>
                  <a:srgbClr val="FFFFFF"/>
                </a:solidFill>
                <a:latin typeface="+mn-lt"/>
                <a:ea typeface="+mn-ea"/>
              </a:rPr>
              <a:t>初中教学·课件大纲 (1/3)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d"/>
          <p:cNvSpPr/>
          <p:nvPr/>
        </p:nvSpPr>
        <p:spPr>
          <a:xfrm>
            <a:off x="0" y="0"/>
            <a:ext cx="12192000" cy="1300000"/>
          </a:xfrm>
          <a:prstGeom prst="rect">
            <a:avLst/>
          </a:prstGeom>
          <a:solidFill>
            <a:srgbClr val="1F6FB2"/>
          </a:solidFill>
        </p:spPr>
        <p:txBody>
          <a:bodyPr anchor="ctr" rtlCol="0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  <a:latin typeface="+mn-lt"/>
                <a:ea typeface="+mn-ea"/>
              </a:rPr>
              <a:t>导入：显微镜下的世界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1600000"/>
            <a:ext cx="11277600" cy="4800000"/>
          </a:xfrm>
        </p:spPr>
        <p:txBody>
          <a:bodyPr wrap="square" anchor="t" rtlCol="0">
            <a:normAutofit/>
          </a:bodyPr>
          <a:lstStyle/>
          <a:p>
            <a:pPr marL="342900" indent="-342900">
              <a:buChar char="•" type="bullet"/>
            </a:pPr>
            <a:r>
              <a:rPr lang="zh-CN" altLang="en-US" sz="2000" b="0" dirty="0">
                <a:solidFill>
                  <a:srgbClr val="333333"/>
                </a:solidFill>
                <a:latin typeface="+mn-lt"/>
                <a:ea typeface="+mn-ea"/>
              </a:rPr>
              <a:t>细胞是生命活动的基本单位</a:t>
            </a:r>
          </a:p>
          <a:p>
            <a:pPr marL="342900" indent="-342900">
              <a:buChar char="•" type="bullet"/>
            </a:pPr>
            <a:r>
              <a:rPr lang="zh-CN" altLang="en-US" sz="2000" b="0" dirty="0">
                <a:solidFill>
                  <a:srgbClr val="333333"/>
                </a:solidFill>
                <a:latin typeface="+mn-lt"/>
                <a:ea typeface="+mn-ea"/>
              </a:rPr>
              <a:t>观察洋葱表皮细胞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277600" y="6250000"/>
            <a:ext cx="900000" cy="400000"/>
          </a:xfrm>
        </p:spPr>
        <p:txBody>
          <a:bodyPr anchor="ctr" rtlCol="0">
            <a:spAutoFit/>
          </a:bodyPr>
          <a:lstStyle/>
          <a:p>
            <a:r>
              <a:rPr lang="zh-CN" altLang="en-US" sz="1200" b="0" dirty="0">
                <a:solidFill>
                  <a:srgbClr val="999999"/>
                </a:solidFill>
                <a:latin typeface="+mn-lt"/>
                <a:ea typeface="+mn-ea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d"/>
          <p:cNvSpPr/>
          <p:nvPr/>
        </p:nvSpPr>
        <p:spPr>
          <a:xfrm>
            <a:off x="0" y="0"/>
            <a:ext cx="12192000" cy="1300000"/>
          </a:xfrm>
          <a:prstGeom prst="rect">
            <a:avLst/>
          </a:prstGeom>
          <a:solidFill>
            <a:srgbClr val="1F6FB2"/>
          </a:solidFill>
        </p:spPr>
        <p:txBody>
          <a:bodyPr anchor="ctr" rtlCol="0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  <a:latin typeface="+mn-lt"/>
                <a:ea typeface="+mn-ea"/>
              </a:rPr>
              <a:t>讲解：细胞壁与细胞膜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1600000"/>
            <a:ext cx="11277600" cy="4800000"/>
          </a:xfrm>
        </p:spPr>
        <p:txBody>
          <a:bodyPr wrap="square" anchor="t" rtlCol="0">
            <a:normAutofit/>
          </a:bodyPr>
          <a:lstStyle/>
          <a:p>
            <a:pPr marL="342900" indent="-342900">
              <a:buChar char="•" type="bullet"/>
            </a:pPr>
            <a:r>
              <a:rPr lang="zh-CN" altLang="en-US" sz="2000" b="0" dirty="0">
                <a:solidFill>
                  <a:srgbClr val="333333"/>
                </a:solidFill>
                <a:latin typeface="+mn-lt"/>
                <a:ea typeface="+mn-ea"/>
              </a:rPr>
              <a:t>细胞壁起支持作用</a:t>
            </a:r>
          </a:p>
          <a:p>
            <a:pPr marL="342900" indent="-342900">
              <a:buChar char="•" type="bullet"/>
            </a:pPr>
            <a:r>
              <a:rPr lang="zh-CN" altLang="en-US" sz="2000" b="0" dirty="0">
                <a:solidFill>
                  <a:srgbClr val="333333"/>
                </a:solidFill>
                <a:latin typeface="+mn-lt"/>
                <a:ea typeface="+mn-ea"/>
              </a:rPr>
              <a:t>细胞膜控制物质进出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277600" y="6250000"/>
            <a:ext cx="900000" cy="400000"/>
          </a:xfrm>
        </p:spPr>
        <p:txBody>
          <a:bodyPr anchor="ctr" rtlCol="0">
            <a:spAutoFit/>
          </a:bodyPr>
          <a:lstStyle/>
          <a:p>
            <a:r>
              <a:rPr lang="zh-CN" altLang="en-US" sz="1200" b="0" dirty="0">
                <a:solidFill>
                  <a:srgbClr val="999999"/>
                </a:solidFill>
                <a:latin typeface="+mn-lt"/>
                <a:ea typeface="+mn-ea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Agent备课 (AI)</Application>
  <Company>AI 生成，仅供参考</Company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七年级生物细胞的结构课件</dc:title>
  <dc:subject>AI 生成，仅供参考</dc:subject>
  <dc:creator>Agent备课（AI 生成） / Lesson Prep Agent (AI-generated)</dc:creator>
  <cp:lastModifiedBy>Agent备课（AI 生成） / Lesson Prep Agent (AI-generated)</cp:lastModifiedBy>
  <cp:keywords>AI生成,仅供参考,Agent备课,AI-generated</cp:keywords>
  <dc:description>本文件内容由 AI 生成，仅供参考。</dc:description>
  <cp:revision>1</cp:revision>
  <dcterms:created xsi:type="dcterms:W3CDTF">2026-10-08T13:26:50Z</dcterms:created>
  <dcterms:modified xsi:type="dcterms:W3CDTF">2026-10-08T13:26:50Z</dcterms:modified>
  <cp:category>AI 生成内容</cp:category>
  <cp:contentStatus>AI 生成，仅供参考</cp:contentStatus>
</cp:coreProperties>
</file>